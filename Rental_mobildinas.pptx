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7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corporate_government_fleet_manag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5A"/>
                </a:solidFill>
              </a:rPr>
              <a:t>DESIGN THINKING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0352" y="1051560"/>
            <a:ext cx="5715000" cy="2788920"/>
          </a:xfrm>
          <a:prstGeom prst="rect">
            <a:avLst/>
          </a:prstGeom>
          <a:solidFill>
            <a:srgbClr val="0B1F3A">
              <a:alpha val="94000"/>
            </a:srgbClr>
          </a:solidFill>
          <a:ln>
            <a:solidFill>
              <a:srgbClr val="0B1F3A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Rental Mobil Dinas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Pemerintahan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Berbasis Web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3950208"/>
            <a:ext cx="5577840" cy="694944"/>
          </a:xfrm>
          <a:prstGeom prst="rect">
            <a:avLst/>
          </a:prstGeom>
          <a:solidFill>
            <a:srgbClr val="0B1F3A">
              <a:alpha val="85000"/>
            </a:srgbClr>
          </a:solidFill>
          <a:ln>
            <a:solidFill>
              <a:srgbClr val="0B1F3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1F8"/>
                </a:solidFill>
              </a:rPr>
              <a:t>Konsep solusi digital untuk pengajuan kendaraan, penjadwalan, approval, monitoring, dan laporan operasional instansi pemerintah.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8368" y="4956048"/>
            <a:ext cx="5212080" cy="402336"/>
          </a:xfrm>
          <a:prstGeom prst="rect">
            <a:avLst/>
          </a:prstGeom>
          <a:solidFill>
            <a:srgbClr val="FFFFFF">
              <a:alpha val="9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Empathize  →  Define  →  Ideate  →  Prototype  →  Test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6181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E2EF"/>
                </a:solidFill>
              </a:rPr>
              <a:t>Professional System Concept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Design Thinking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07899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Pendekatan desain berpusat pada pengguna agar sistem tidak hanya berjalan, tetapi benar-benar menyelesaikan masalah operasional kendaraan dinas.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621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27"/>
                </a:solidFill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350008"/>
            <a:ext cx="216712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Empathize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862072"/>
            <a:ext cx="20574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67085"/>
                </a:solidFill>
              </a:rPr>
              <a:t>Memahami pengguna, proses manual, dan pain point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2167128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834640"/>
            <a:ext cx="109728" cy="0"/>
          </a:xfrm>
          <a:prstGeom prst="line">
            <a:avLst/>
          </a:prstGeom>
          <a:noFill/>
          <a:ln w="15240">
            <a:solidFill>
              <a:srgbClr val="D5DAE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1874520"/>
            <a:ext cx="621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27"/>
                </a:solidFill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26080" y="2350008"/>
            <a:ext cx="216712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Define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2862072"/>
            <a:ext cx="20574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67085"/>
                </a:solidFill>
              </a:rPr>
              <a:t>Merumuskan problem statement dan tujuan sistem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2926080" y="3611880"/>
            <a:ext cx="2167128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834640"/>
            <a:ext cx="109728" cy="0"/>
          </a:xfrm>
          <a:prstGeom prst="line">
            <a:avLst/>
          </a:prstGeom>
          <a:noFill/>
          <a:ln w="15240">
            <a:solidFill>
              <a:srgbClr val="D5DAE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257800" y="1874520"/>
            <a:ext cx="621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27"/>
                </a:solidFill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57800" y="2350008"/>
            <a:ext cx="216712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Ideate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2862072"/>
            <a:ext cx="20574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67085"/>
                </a:solidFill>
              </a:rPr>
              <a:t>Mengembangkan fitur dan solusi digital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5257800" y="3611880"/>
            <a:ext cx="2167128" cy="54864"/>
          </a:xfrm>
          <a:prstGeom prst="rect">
            <a:avLst/>
          </a:prstGeom>
          <a:solidFill>
            <a:srgbClr val="2C6E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2834640"/>
            <a:ext cx="109728" cy="0"/>
          </a:xfrm>
          <a:prstGeom prst="line">
            <a:avLst/>
          </a:prstGeom>
          <a:noFill/>
          <a:ln w="15240">
            <a:solidFill>
              <a:srgbClr val="D5DAE3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589520" y="1874520"/>
            <a:ext cx="621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27"/>
                </a:solidFill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89520" y="2350008"/>
            <a:ext cx="216712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Prototype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2862072"/>
            <a:ext cx="20574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67085"/>
                </a:solidFill>
              </a:rPr>
              <a:t>Membuat rancangan halaman dan alur sistem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7589520" y="3611880"/>
            <a:ext cx="2167128" cy="54864"/>
          </a:xfrm>
          <a:prstGeom prst="rect">
            <a:avLst/>
          </a:prstGeom>
          <a:solidFill>
            <a:srgbClr val="2C6E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2834640"/>
            <a:ext cx="109728" cy="0"/>
          </a:xfrm>
          <a:prstGeom prst="line">
            <a:avLst/>
          </a:prstGeom>
          <a:noFill/>
          <a:ln w="15240">
            <a:solidFill>
              <a:srgbClr val="D5DAE3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921240" y="1874520"/>
            <a:ext cx="621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27"/>
                </a:solidFill>
              </a:rPr>
              <a:t>05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921240" y="2350008"/>
            <a:ext cx="216712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Test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21240" y="2862072"/>
            <a:ext cx="20574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67085"/>
                </a:solidFill>
              </a:rPr>
              <a:t>Menguji fungsi utama dan validasi manfaat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9921240" y="3611880"/>
            <a:ext cx="2167128" cy="54864"/>
          </a:xfrm>
          <a:prstGeom prst="rect">
            <a:avLst/>
          </a:prstGeom>
          <a:solidFill>
            <a:srgbClr val="2C6E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</a:rPr>
              <a:t>Fokus utama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74520" y="46634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Mengubah proses manual (WhatsApp, telepon, buku, Excel) menjadi sistem web yang transparan, cepat, dan terdokumentasi.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Empathize — Memahami Pengguna &amp; Masalah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03</a:t>
            </a:r>
            <a:endParaRPr lang="en-US" sz="900" dirty="0"/>
          </a:p>
        </p:txBody>
      </p:sp>
      <p:pic>
        <p:nvPicPr>
          <p:cNvPr id="8" name="Image 0" descr="/mnt/data/a_clean_modern_3d_cg_office_scene_overall_view_o_batch_2.png"/>
          <p:cNvPicPr>
            <a:picLocks noChangeAspect="1"/>
          </p:cNvPicPr>
          <p:nvPr/>
        </p:nvPicPr>
        <p:blipFill>
          <a:blip r:embed="rId3"/>
          <a:srcRect l="26000" t="12000" r="4896" b="10000"/>
          <a:stretch/>
        </p:blipFill>
        <p:spPr>
          <a:xfrm>
            <a:off x="7178040" y="1033272"/>
            <a:ext cx="4462272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078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Kondisi Saat Ini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1536192"/>
            <a:ext cx="5989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Peminjaman kendaraan dinas masih banyak dilakukan melalui WhatsApp, telepon, buku peminjaman, atau Excel. Dampaknya: proses lambat, data tidak seragam, jadwal rentan bentrok, dan laporan sulit dibuat.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1965960" cy="384048"/>
          </a:xfrm>
          <a:prstGeom prst="rect">
            <a:avLst/>
          </a:prstGeom>
          <a:solidFill>
            <a:srgbClr val="2C6EBC"/>
          </a:solidFill>
          <a:ln/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Pegawai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88920" y="28986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1828"/>
                </a:solidFill>
              </a:rPr>
              <a:t>Butuh cek kendaraan tersedia, pengajuan cepat, dan status real-time.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640080" y="3776472"/>
            <a:ext cx="1965960" cy="384048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Admin Kendaraan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88920" y="37947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1828"/>
                </a:solidFill>
              </a:rPr>
              <a:t>Mengelola data kendaraan, sopir, approval, jadwal, dan laporan.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640080" y="4672584"/>
            <a:ext cx="1965960" cy="38404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Pimpinan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88920" y="46908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01828"/>
                </a:solidFill>
              </a:rPr>
              <a:t>Memantau penggunaan kendaraan, laporan operasional, dan efektivitas pemanfaatan.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7360920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</a:rPr>
              <a:t>Insight Empathize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0920" y="459028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Pengguna membutuhkan satu sumber informasi yang jelas: ketersediaan kendaraan, jadwal, status persetujuan, dan laporan penggunaan.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Pain Point Utama per Peran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115568"/>
            <a:ext cx="3246120" cy="438912"/>
          </a:xfrm>
          <a:prstGeom prst="rect">
            <a:avLst/>
          </a:prstGeom>
          <a:solidFill>
            <a:srgbClr val="2C6EB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Pegawai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Sulit mengetahui kendaraan tersedia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542032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Harus menghubungi admin terlebih dahulu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255264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Tidak mengetahui jadwal penggunaan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Proses pengajuan lama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16552" y="1115568"/>
            <a:ext cx="3246120" cy="438912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Admin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53712" y="1828800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Pencatatan manual dan rawan salah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2542032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Jadwal kendaraan dapat double booking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53712" y="3255264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Kesulitan membuat laporan berkala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53712" y="3968496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Data berpotensi hilang/tidak terdokumentasi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38744" y="1115568"/>
            <a:ext cx="3246120" cy="43891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Pimpinan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75904" y="1828800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Sulit memantau penggunaan real-time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75904" y="2542032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Tidak ada laporan otomatis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75904" y="3255264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Sulit evaluasi tingkat pemanfaatan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75904" y="3968496"/>
            <a:ext cx="29718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1828"/>
                </a:solidFill>
              </a:rPr>
              <a:t>Keputusan operasional kurang berbasis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52303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</a:rPr>
              <a:t>Kesimpulan Tahap Empathize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5157216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Proses manual menyebabkan keterlambatan, minim transparansi, risiko benturan jadwal, dan kesulitan penyusunan laporan.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Define — Rumusan Masalah &amp; Tujuan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1155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10835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Bagaimana merancang sistem informasi rental mobil dinas berbasis website yang mampu mempermudah pengajuan, menghindari benturan jadwal, meningkatkan transparansi, serta menghasilkan laporan operasional secara otomatis?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Pengajuan cepat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30815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Pegawai dapat mengajukan kendaraan tanpa proses manual.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731520" y="3675888"/>
            <a:ext cx="50749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0632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Ketersediaan real-time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9640" y="30815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Kendaraan dan jadwal dapat dilihat sebelum mengajukan.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263640" y="3675888"/>
            <a:ext cx="50749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42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Anti double booking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41605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Sistem menolak pengajuan saat jadwal bertabrakan.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50749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142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Laporan otomatis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9640" y="41605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Admin dan pimpinan mendapatkan rekap periode tertentu.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6263640" y="4754880"/>
            <a:ext cx="50749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650992"/>
            <a:ext cx="10652760" cy="34747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Arah desain: satu sistem web dengan akses berbasis peran, data terpusat, alur approval jelas, dan dashboard monitoring.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Ideate — Solusi &amp; Fitur Utama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06070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667085"/>
                </a:solidFill>
              </a:rPr>
              <a:t>Solusi yang diusulkan adalah membangun sistem informasi rental mobil dinas berbasis web untuk menghubungkan pegawai, admin kendaraan, dan pimpinan dalam satu alur digital.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Login berbasis hak akses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1401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Pegawai, Admin, Pimpinan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94360" y="2944368"/>
            <a:ext cx="2487168" cy="0"/>
          </a:xfrm>
          <a:prstGeom prst="line">
            <a:avLst/>
          </a:prstGeom>
          <a:noFill/>
          <a:ln w="2667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95681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Dashboard kendaraan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83864" y="241401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Tersedia, digunakan, pengajuan baru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83864" y="2944368"/>
            <a:ext cx="2487168" cy="0"/>
          </a:xfrm>
          <a:prstGeom prst="line">
            <a:avLst/>
          </a:prstGeom>
          <a:noFill/>
          <a:ln w="2667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5681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Manajemen kendaraan &amp; sopir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73368" y="241401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Data armada, status, kapasitas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73368" y="2944368"/>
            <a:ext cx="2487168" cy="0"/>
          </a:xfrm>
          <a:prstGeom prst="line">
            <a:avLst/>
          </a:prstGeom>
          <a:noFill/>
          <a:ln w="2667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95681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Form pengajuan online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2872" y="241401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Tujuan, tanggal, penumpang, kendaraan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262872" y="2944368"/>
            <a:ext cx="2487168" cy="0"/>
          </a:xfrm>
          <a:prstGeom prst="line">
            <a:avLst/>
          </a:prstGeom>
          <a:noFill/>
          <a:ln w="2667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6557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Approval 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92277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Disetujui, ditolak, diproses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94360" y="4453128"/>
            <a:ext cx="2487168" cy="0"/>
          </a:xfrm>
          <a:prstGeom prst="line">
            <a:avLst/>
          </a:prstGeom>
          <a:noFill/>
          <a:ln w="26670">
            <a:solidFill>
              <a:srgbClr val="2C6E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346557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Jadwal &amp; riwayat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83864" y="392277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Monitoring pemakaian dan arsip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3483864" y="4453128"/>
            <a:ext cx="2487168" cy="0"/>
          </a:xfrm>
          <a:prstGeom prst="line">
            <a:avLst/>
          </a:prstGeom>
          <a:noFill/>
          <a:ln w="26670">
            <a:solidFill>
              <a:srgbClr val="2C6E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46557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Laporan penggunaan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73368" y="392277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Rekap periode dan cetak laporan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373368" y="4453128"/>
            <a:ext cx="2487168" cy="0"/>
          </a:xfrm>
          <a:prstGeom prst="line">
            <a:avLst/>
          </a:prstGeom>
          <a:noFill/>
          <a:ln w="26670">
            <a:solidFill>
              <a:srgbClr val="2C6E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62872" y="3465576"/>
            <a:ext cx="25420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Notifikasi status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62872" y="3922776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Status pengajuan dapat dipantau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9262872" y="4453128"/>
            <a:ext cx="2487168" cy="0"/>
          </a:xfrm>
          <a:prstGeom prst="line">
            <a:avLst/>
          </a:prstGeom>
          <a:noFill/>
          <a:ln w="26670">
            <a:solidFill>
              <a:srgbClr val="2C6E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5568" y="5440680"/>
            <a:ext cx="9921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Fitur dipilih untuk menyelesaikan akar masalah: informasi tidak transparan, approval manual, jadwal bertabrakan, dan laporan lambat.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92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Prototype — Rancangan Halaman Utama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108356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0160">
            <a:solidFill>
              <a:srgbClr val="D5D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15568"/>
            <a:ext cx="108356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22529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Rental Mobil Dinas — Web App Prototype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527048"/>
            <a:ext cx="1874520" cy="4297680"/>
          </a:xfrm>
          <a:prstGeom prst="rect">
            <a:avLst/>
          </a:prstGeom>
          <a:solidFill>
            <a:srgbClr val="F0F4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</a:rPr>
              <a:t>Dashboard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50976" y="2404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Pengajuan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50976" y="29077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Kendaraan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950976" y="34107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Sopir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50976" y="39136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Laporan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880360" y="1856232"/>
            <a:ext cx="1700784" cy="713232"/>
          </a:xfrm>
          <a:prstGeom prst="rect">
            <a:avLst/>
          </a:prstGeom>
          <a:solidFill>
            <a:srgbClr val="F9FAFB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Total Kendaraan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9472" y="1856232"/>
            <a:ext cx="1700784" cy="713232"/>
          </a:xfrm>
          <a:prstGeom prst="rect">
            <a:avLst/>
          </a:prstGeom>
          <a:solidFill>
            <a:srgbClr val="F9FAFB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Tersedia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58584" y="1856232"/>
            <a:ext cx="1700784" cy="713232"/>
          </a:xfrm>
          <a:prstGeom prst="rect">
            <a:avLst/>
          </a:prstGeom>
          <a:solidFill>
            <a:srgbClr val="F9FAFB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Digunakan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97696" y="1856232"/>
            <a:ext cx="1700784" cy="713232"/>
          </a:xfrm>
          <a:prstGeom prst="rect">
            <a:avLst/>
          </a:prstGeom>
          <a:solidFill>
            <a:srgbClr val="F9FAFB"/>
          </a:solidFill>
          <a:ln w="762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Pengajuan Baru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F3A"/>
                </a:solidFill>
              </a:rPr>
              <a:t>Pengajuan Terbaru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2880360" y="3246120"/>
            <a:ext cx="1234440" cy="347472"/>
          </a:xfrm>
          <a:prstGeom prst="rect">
            <a:avLst/>
          </a:prstGeom>
          <a:solidFill>
            <a:srgbClr val="0B1F3A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Pegawai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0" y="3246120"/>
            <a:ext cx="1920240" cy="347472"/>
          </a:xfrm>
          <a:prstGeom prst="rect">
            <a:avLst/>
          </a:prstGeom>
          <a:solidFill>
            <a:srgbClr val="0B1F3A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Kendaraan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0" y="3246120"/>
            <a:ext cx="1234440" cy="347472"/>
          </a:xfrm>
          <a:prstGeom prst="rect">
            <a:avLst/>
          </a:prstGeom>
          <a:solidFill>
            <a:srgbClr val="0B1F3A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80360" y="3593592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Budi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0" y="3593592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Avanza BK 1024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35040" y="3593592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Diproses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80360" y="3941064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Sari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0" y="3941064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Innova BK 2211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35040" y="3941064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Disetujui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880360" y="4288536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Rama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0" y="428853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HiAce BK 9090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35040" y="4288536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01828"/>
                </a:solidFill>
              </a:rPr>
              <a:t>Ditolak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0100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F3A"/>
                </a:solidFill>
              </a:rPr>
              <a:t>Penggunaan Mingguan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8138160" y="4023360"/>
            <a:ext cx="219456" cy="594360"/>
          </a:xfrm>
          <a:prstGeom prst="rect">
            <a:avLst/>
          </a:prstGeom>
          <a:solidFill>
            <a:srgbClr val="2C6E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22208" y="3776472"/>
            <a:ext cx="219456" cy="8412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06256" y="4142232"/>
            <a:ext cx="219456" cy="475488"/>
          </a:xfrm>
          <a:prstGeom prst="rect">
            <a:avLst/>
          </a:prstGeom>
          <a:solidFill>
            <a:srgbClr val="2C6E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90304" y="3657600"/>
            <a:ext cx="219456" cy="960120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74352" y="3904488"/>
            <a:ext cx="219456" cy="713232"/>
          </a:xfrm>
          <a:prstGeom prst="rect">
            <a:avLst/>
          </a:prstGeom>
          <a:solidFill>
            <a:srgbClr val="2C6EB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28432" y="4617720"/>
            <a:ext cx="214884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60533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Prototype menjadi acuan pengembangan dengan React.js, Node.js, dan MySQL.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Sistem: Dari Pengajuan sampai Laporan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12848" y="3319272"/>
            <a:ext cx="749808" cy="0"/>
          </a:xfrm>
          <a:prstGeom prst="line">
            <a:avLst/>
          </a:prstGeom>
          <a:noFill/>
          <a:ln w="2286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53128" y="3319272"/>
            <a:ext cx="749808" cy="0"/>
          </a:xfrm>
          <a:prstGeom prst="line">
            <a:avLst/>
          </a:prstGeom>
          <a:noFill/>
          <a:ln w="2286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39128" y="3319272"/>
            <a:ext cx="749808" cy="0"/>
          </a:xfrm>
          <a:prstGeom prst="line">
            <a:avLst/>
          </a:prstGeom>
          <a:noFill/>
          <a:ln w="2286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25128" y="3319272"/>
            <a:ext cx="749808" cy="0"/>
          </a:xfrm>
          <a:prstGeom prst="line">
            <a:avLst/>
          </a:prstGeom>
          <a:noFill/>
          <a:ln w="2286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" y="2971800"/>
            <a:ext cx="1481328" cy="329184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Pegawai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3483864"/>
            <a:ext cx="14813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Login &amp; isi form pengajuan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1481328" cy="329184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Sistem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71800" y="3483864"/>
            <a:ext cx="14813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Cek kendaraan dan jadwal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57800" y="2971800"/>
            <a:ext cx="1481328" cy="329184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Admin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57800" y="3483864"/>
            <a:ext cx="14813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Approval / penolakan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43800" y="2971800"/>
            <a:ext cx="1481328" cy="329184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Pegawai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43800" y="3483864"/>
            <a:ext cx="14813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Melihat status pengajuan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29800" y="2971800"/>
            <a:ext cx="1481328" cy="329184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Pimpinan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829800" y="3483864"/>
            <a:ext cx="148132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Monitoring &amp; laporan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1207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</a:rPr>
              <a:t>Kontrol utama sistem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160020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Double booking dicegah saat sistem mencocokkan kendaraan, tanggal berangkat, dan tanggal kembali sebelum pengajuan masuk ke tahap approval.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" y="5047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Output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54480" y="498348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B1F3A"/>
                </a:solidFill>
              </a:rPr>
              <a:t>Data terpusat • Riwayat penggunaan • Status transparan • Laporan berkala • Monitoring pimpinan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Konsep Arsitektur Sistem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3246120"/>
            <a:ext cx="1078992" cy="0"/>
          </a:xfrm>
          <a:prstGeom prst="line">
            <a:avLst/>
          </a:prstGeom>
          <a:noFill/>
          <a:ln w="2032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23560" y="3246120"/>
            <a:ext cx="1078992" cy="0"/>
          </a:xfrm>
          <a:prstGeom prst="line">
            <a:avLst/>
          </a:prstGeom>
          <a:noFill/>
          <a:ln w="2032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75320" y="3246120"/>
            <a:ext cx="1078992" cy="0"/>
          </a:xfrm>
          <a:prstGeom prst="line">
            <a:avLst/>
          </a:prstGeom>
          <a:noFill/>
          <a:ln w="2032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13232" y="2377440"/>
            <a:ext cx="1993392" cy="384048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Pengguna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2944368"/>
            <a:ext cx="199339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Pegawai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Admin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Pimpinan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377440"/>
            <a:ext cx="1993392" cy="384048"/>
          </a:xfrm>
          <a:prstGeom prst="rect">
            <a:avLst/>
          </a:prstGeom>
          <a:solidFill>
            <a:srgbClr val="2C6EB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2944368"/>
            <a:ext cx="199339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React.js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Web 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Responsive 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16752" y="2377440"/>
            <a:ext cx="1993392" cy="384048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6752" y="2944368"/>
            <a:ext cx="199339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Node.js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REST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Business Rules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68512" y="2377440"/>
            <a:ext cx="1993392" cy="384048"/>
          </a:xfrm>
          <a:prstGeom prst="rect">
            <a:avLst/>
          </a:prstGeom>
          <a:solidFill>
            <a:srgbClr val="0F2B4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68512" y="2944368"/>
            <a:ext cx="1993392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MySQL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Data kendaraan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1828"/>
                </a:solidFill>
              </a:rPr>
              <a:t>pengajuan &amp; laporan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</a:rPr>
              <a:t>Prinsip desain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14447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Akses dibedakan berdasarkan peran agar setiap pengguna melihat fitur yang sesuai dengan tanggung jawabnya.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4956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Role-based access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88720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Keamanan dan kontrol fitur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4645152" y="4956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Centralized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45152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Satu sumber data kendaraan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8101584" y="4956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Automated reporting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01584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67085"/>
                </a:solidFill>
              </a:rPr>
              <a:t>Laporan lebih cepat dan konsisten</a:t>
            </a:r>
            <a:endParaRPr lang="en-US" sz="10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Test — Skenario Pengujian Utama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502920" cy="512064"/>
          </a:xfrm>
          <a:prstGeom prst="rect">
            <a:avLst/>
          </a:prstGeom>
          <a:solidFill>
            <a:srgbClr val="0B1F3A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61288" y="1234440"/>
            <a:ext cx="4709160" cy="512064"/>
          </a:xfrm>
          <a:prstGeom prst="rect">
            <a:avLst/>
          </a:prstGeom>
          <a:solidFill>
            <a:srgbClr val="0B1F3A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Skenario Pengujian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70448" y="1234440"/>
            <a:ext cx="5669280" cy="512064"/>
          </a:xfrm>
          <a:prstGeom prst="rect">
            <a:avLst/>
          </a:prstGeom>
          <a:solidFill>
            <a:srgbClr val="0B1F3A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Hasil yang Diharapkan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746504"/>
            <a:ext cx="502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61288" y="1746504"/>
            <a:ext cx="4709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Pegawai melakukan login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1746504"/>
            <a:ext cx="5669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Login berhasil dan masuk ke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258568"/>
            <a:ext cx="50292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61288" y="2258568"/>
            <a:ext cx="470916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Pegawai mengajukan penyewaan kendaraan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70448" y="2258568"/>
            <a:ext cx="566928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Data pengajuan berhasil tersimpan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70632"/>
            <a:ext cx="502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1288" y="2770632"/>
            <a:ext cx="4709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Admin menyetujui pengajuan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70448" y="2770632"/>
            <a:ext cx="5669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Status berubah menjadi “Disetujui”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282696"/>
            <a:ext cx="50292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61288" y="3282696"/>
            <a:ext cx="470916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Pegawai melihat status pengajuan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70448" y="3282696"/>
            <a:ext cx="566928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Informasi status ditampilkan dengan benar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794760"/>
            <a:ext cx="502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1288" y="3794760"/>
            <a:ext cx="4709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Admin mencetak laporan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70448" y="3794760"/>
            <a:ext cx="5669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Laporan berhasil dibuat sesuai periode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4306824"/>
            <a:ext cx="50292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61288" y="4306824"/>
            <a:ext cx="470916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Sistem mendeteksi jadwal bentrok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70448" y="4306824"/>
            <a:ext cx="5669280" cy="512064"/>
          </a:xfrm>
          <a:prstGeom prst="rect">
            <a:avLst/>
          </a:prstGeom>
          <a:solidFill>
            <a:srgbClr val="F9FAFB"/>
          </a:solidFill>
          <a:ln w="635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</a:rPr>
              <a:t>Pengajuan ditolak dan muncul notifikasi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5779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</a:rPr>
              <a:t>Kriteria keberhasilan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5715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Setiap fungsi inti harus berjalan sesuai alur, data tersimpan konsisten, dan sistem mampu mencegah benturan jadwal kendaraan.</a:t>
            </a:r>
            <a:endParaRPr lang="en-US" sz="14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Dampak yang Diharapkan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9A227"/>
                </a:solidFill>
              </a:rPr>
              <a:t>Design Thinking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0A3"/>
                </a:solidFill>
              </a:rPr>
              <a:t> Rental Mobil Dinas Pemerintahan Berbasis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4830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0A3"/>
                </a:solidFill>
              </a:rPr>
              <a:t>11</a:t>
            </a:r>
            <a:endParaRPr lang="en-US" sz="900" dirty="0"/>
          </a:p>
        </p:txBody>
      </p:sp>
      <p:pic>
        <p:nvPicPr>
          <p:cNvPr id="8" name="Image 0" descr="/mnt/data/a_wide_realistic_3d_rendered_modern_control_room_batch_3.png"/>
          <p:cNvPicPr>
            <a:picLocks noChangeAspect="1"/>
          </p:cNvPicPr>
          <p:nvPr/>
        </p:nvPicPr>
        <p:blipFill>
          <a:blip r:embed="rId3"/>
          <a:srcRect l="15000" t="5000" r="9345" b="13000"/>
          <a:stretch/>
        </p:blipFill>
        <p:spPr>
          <a:xfrm>
            <a:off x="6903720" y="1024128"/>
            <a:ext cx="4572000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107899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Lebih cepat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834640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Pegawai dapat mengajukan tanpa menunggu komunikasi manual.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94944" y="1664208"/>
            <a:ext cx="530352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0208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Lebih transparan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34640" y="2039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Status dan jadwal kendaraan dapat dipantau langsung.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694944" y="2606040"/>
            <a:ext cx="530352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296265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Lebih aman data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34640" y="298094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Riwayat pengajuan tersimpan dan mudah ditelusuri.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94944" y="3547872"/>
            <a:ext cx="530352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" y="39044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Lebih strategis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9227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67085"/>
                </a:solidFill>
              </a:rPr>
              <a:t>Pimpinan mendapat data untuk evaluasi pemanfaatan kendaraan.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694944" y="4489704"/>
            <a:ext cx="5303520" cy="0"/>
          </a:xfrm>
          <a:prstGeom prst="line">
            <a:avLst/>
          </a:prstGeom>
          <a:noFill/>
          <a:ln w="10160">
            <a:solidFill>
              <a:srgbClr val="D5DA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4315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</a:rPr>
              <a:t>Hasil akhir yang dituju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59168" y="4681728"/>
            <a:ext cx="4133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Pengelolaan kendaraan operasional menjadi cepat, akurat, terdokumentasi, dan mendukung pengambilan keputusan berbasis data.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corporate_government_fleet_manag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749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C45A"/>
                </a:solidFill>
              </a:rPr>
              <a:t>Kesimpulan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1792" y="1298448"/>
            <a:ext cx="6126480" cy="1325880"/>
          </a:xfrm>
          <a:prstGeom prst="rect">
            <a:avLst/>
          </a:prstGeom>
          <a:solidFill>
            <a:srgbClr val="0B1F3A">
              <a:alpha val="93000"/>
            </a:srgbClr>
          </a:solidFill>
          <a:ln>
            <a:solidFill>
              <a:srgbClr val="0B1F3A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Rental mobil dinas berbasis web membantu instansi pemerintah beralih dari proses manual menuju pengelolaan kendaraan yang terintegrasi.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3703320"/>
            <a:ext cx="5623560" cy="566928"/>
          </a:xfrm>
          <a:prstGeom prst="rect">
            <a:avLst/>
          </a:prstGeom>
          <a:solidFill>
            <a:srgbClr val="0B1F3A">
              <a:alpha val="86000"/>
            </a:srgbClr>
          </a:solidFill>
          <a:ln>
            <a:solidFill>
              <a:srgbClr val="0B1F3A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D9E2EF"/>
                </a:solidFill>
              </a:rPr>
              <a:t>Kunci manfaat: pengajuan online, jadwal terkontrol, approval jelas, monitoring real-time, dan laporan otomatis.</a:t>
            </a:r>
            <a:endParaRPr lang="en-US" sz="1430" dirty="0"/>
          </a:p>
        </p:txBody>
      </p:sp>
      <p:sp>
        <p:nvSpPr>
          <p:cNvPr id="6" name="Text 3"/>
          <p:cNvSpPr/>
          <p:nvPr/>
        </p:nvSpPr>
        <p:spPr>
          <a:xfrm>
            <a:off x="713232" y="5257800"/>
            <a:ext cx="2377440" cy="475488"/>
          </a:xfrm>
          <a:prstGeom prst="rect">
            <a:avLst/>
          </a:prstGeom>
          <a:solidFill>
            <a:srgbClr val="0B1F3A">
              <a:alpha val="65000"/>
            </a:srgbClr>
          </a:solidFill>
          <a:ln>
            <a:solidFill>
              <a:srgbClr val="0B1F3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2C45A"/>
                </a:solidFill>
              </a:rPr>
              <a:t>Thank You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1520" y="5943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E2EF"/>
                </a:solidFill>
              </a:rPr>
              <a:t>Design Thinking Concept Deck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1050</Words>
  <Application>Microsoft Office PowerPoint</Application>
  <PresentationFormat>Widescreen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- Rental Mobil Dinas Pemerintahan</dc:title>
  <dc:subject>Design Thinking - Sistem Informasi Rental Mobil Dinas Pemerintahan Berbasis Web</dc:subject>
  <dc:creator>OpenAI</dc:creator>
  <cp:lastModifiedBy>WDC1-15</cp:lastModifiedBy>
  <cp:revision>2</cp:revision>
  <dcterms:created xsi:type="dcterms:W3CDTF">2026-07-13T09:14:17Z</dcterms:created>
  <dcterms:modified xsi:type="dcterms:W3CDTF">2026-07-14T02:50:16Z</dcterms:modified>
</cp:coreProperties>
</file>